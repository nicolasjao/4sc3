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6" r:id="rId5"/>
    <p:sldId id="263" r:id="rId6"/>
    <p:sldId id="261" r:id="rId7"/>
    <p:sldId id="262" r:id="rId8"/>
    <p:sldId id="260" r:id="rId9"/>
    <p:sldId id="267" r:id="rId10"/>
    <p:sldId id="257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6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39F99-ACEC-243D-34D8-3ED62446E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425B22-7203-0C3E-3FFD-81EA54B044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FF418-1557-7664-D5C0-9B1DBC74D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EEA95-A93D-A8F5-C6FF-898F6952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27F10-0E07-CF1D-8ED2-97D59A5F6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2672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F9008-777A-B05E-BF4D-B63D0568F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308C1-3723-401E-6633-09215CE5A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177C7-BC41-3CBC-E0CA-F30721281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49007-F375-D445-4AEB-64AB27C7D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EF630-58B5-B986-BED0-76183CA0E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452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FF4D-27C8-42F8-ABED-3D28577A9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0545B-C7F7-716D-B690-61C1B2117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21B3E-92A2-1551-12D0-6D02BED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6AB1B-0CA2-27BA-B63A-FCA4458F1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A1DA7-A82B-39C5-2BB0-1DD2F085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439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B4E0A-49C3-1C59-ED2A-F781F061F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46384-C47A-1A56-5F69-61D7C99BF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ACEC6-BCB6-5450-31BD-AA1EDCA85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564DE-FFC8-7218-3467-BE02F0347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7ACC4-8420-7166-FFA9-BC9FC841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E308F-27BC-7666-AA69-ECCD2ABF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450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B53AA-65D7-5971-5B39-1603F0744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068A6-8BB1-376F-7DBA-03A59B7B8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46CEE-0DCC-640E-054E-94E138956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B44483-52C7-1643-4B4E-230243CF1F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13D21B-CE84-DD42-8A0C-87F5C786D9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4E45E-2026-E7F4-E5EB-250EE5D25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2026-10-09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665F81-F2AE-A9D6-95BA-E289DFD36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D243E1-B492-BB11-CD34-D83C7FDBC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802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9DCEA-DC3C-E319-5B92-EF28E76A0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8ED083-0361-88E2-6930-C61164E9A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2026-10-09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B4057C-1A71-3690-EF05-D4DD326C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1696A1-58B5-F33B-5555-988D63CBB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785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9AAD75-5F65-86B4-5F92-37C3054C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2026-10-09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9E4D69-EDAF-89A7-C328-7B688CF2A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C0A47-658D-E7F4-C776-883CD762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2575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D535-83C8-1B6A-182F-CF828D226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03061-5F1C-FEE4-ACFC-26D78AE04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45351-0B33-E747-9893-1B724DA1E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33548-C419-4F5A-CA77-854867917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25E95-D3FD-B75D-9358-D32E1E60A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11774-D984-8802-2FA0-F9D24548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9987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D868-54EE-0EB2-B4F6-4BD25E5CB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D12324-0BFB-F406-3698-FC398A71377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B4A41-42FC-041C-7A2D-C151919A0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A0F27-22FC-13B3-65EB-8B53BFF68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72985-4FD0-119D-2C46-F9CE20116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68B8A-FFC8-77B5-24AD-E4FC6A224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4003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A7195-F17B-EE32-D937-93BE94417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C56F0-A8F9-34C9-F52D-3AFEBB0A8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3BA0B-087C-AD7D-9D6A-6EB59B640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6E35F-3CD5-8857-BA08-2175177A9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33837-3EBE-7821-2290-F067924E7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51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62F366-942D-845C-7B00-08E074D0F0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712C1-C39E-0818-5412-7175759DE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92EA7-A1D1-C550-C103-D418BD525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E75FF-AAD5-00BC-965F-EC848E41F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09B71-DDA7-B3B5-D68D-07668FBB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310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E27D85-3347-D14B-CB55-AE6BE503E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B8FA3-6B27-2BB9-0509-27BEF697D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82FA0-223F-7916-AAC6-A0FA59E289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D2CD0A-4309-479C-A165-AA947C62A66F}" type="datetimeFigureOut">
              <a:rPr lang="en-CA" smtClean="0"/>
              <a:t>2026-10-09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017CF-2AF9-107C-F9ED-5252594FA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33F01-6FE7-16CD-80BB-748CEEB5DE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7613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A0321-F8F8-2CA1-5293-B9283B922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106" y="2324518"/>
            <a:ext cx="4206192" cy="35412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D358459-8AC1-CF7D-83F2-98C0F2341117}"/>
              </a:ext>
            </a:extLst>
          </p:cNvPr>
          <p:cNvSpPr txBox="1"/>
          <p:nvPr/>
        </p:nvSpPr>
        <p:spPr>
          <a:xfrm>
            <a:off x="1460395" y="242639"/>
            <a:ext cx="79269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Detailed Instruction for Group 2: Intersection of Interest</a:t>
            </a:r>
            <a:endParaRPr lang="en-CA" sz="2400" i="1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08F0270-3E7D-956B-AE19-0B250C3F706E}"/>
              </a:ext>
            </a:extLst>
          </p:cNvPr>
          <p:cNvSpPr/>
          <p:nvPr/>
        </p:nvSpPr>
        <p:spPr>
          <a:xfrm>
            <a:off x="4135955" y="4483983"/>
            <a:ext cx="371260" cy="295633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153605D-A448-5321-84B6-7970A127FB7A}"/>
              </a:ext>
            </a:extLst>
          </p:cNvPr>
          <p:cNvSpPr/>
          <p:nvPr/>
        </p:nvSpPr>
        <p:spPr>
          <a:xfrm>
            <a:off x="7411844" y="3516352"/>
            <a:ext cx="192952" cy="185979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A7B0A0C-E5ED-593E-F9D1-879D85B3692C}"/>
              </a:ext>
            </a:extLst>
          </p:cNvPr>
          <p:cNvSpPr/>
          <p:nvPr/>
        </p:nvSpPr>
        <p:spPr>
          <a:xfrm>
            <a:off x="5222368" y="2731856"/>
            <a:ext cx="197126" cy="18926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3AAD0E2-7FA4-7B85-03FB-EF79459AC628}"/>
              </a:ext>
            </a:extLst>
          </p:cNvPr>
          <p:cNvSpPr/>
          <p:nvPr/>
        </p:nvSpPr>
        <p:spPr>
          <a:xfrm>
            <a:off x="5485746" y="5260717"/>
            <a:ext cx="371260" cy="295633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B2C0A9D-9EEC-C2B2-F580-FE9BCF5AACA1}"/>
              </a:ext>
            </a:extLst>
          </p:cNvPr>
          <p:cNvSpPr/>
          <p:nvPr/>
        </p:nvSpPr>
        <p:spPr>
          <a:xfrm>
            <a:off x="5430311" y="4063256"/>
            <a:ext cx="371261" cy="295633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5A144EB-FF46-8748-C84E-60256A081AC5}"/>
              </a:ext>
            </a:extLst>
          </p:cNvPr>
          <p:cNvSpPr/>
          <p:nvPr/>
        </p:nvSpPr>
        <p:spPr>
          <a:xfrm>
            <a:off x="3964041" y="6054428"/>
            <a:ext cx="200981" cy="231962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1357BF-FD0A-4554-171A-22FC40BFB3EB}"/>
              </a:ext>
            </a:extLst>
          </p:cNvPr>
          <p:cNvSpPr txBox="1"/>
          <p:nvPr/>
        </p:nvSpPr>
        <p:spPr>
          <a:xfrm>
            <a:off x="4162293" y="6069480"/>
            <a:ext cx="16483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b="1" dirty="0"/>
              <a:t>Intersection of Interest </a:t>
            </a:r>
            <a:endParaRPr lang="en-CA" sz="9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EEA2500-5E1C-74CC-5745-276BF64C786F}"/>
              </a:ext>
            </a:extLst>
          </p:cNvPr>
          <p:cNvSpPr/>
          <p:nvPr/>
        </p:nvSpPr>
        <p:spPr>
          <a:xfrm>
            <a:off x="5777579" y="6091196"/>
            <a:ext cx="167353" cy="162950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1BCAA9-378C-4682-828B-377A7C80A1BE}"/>
              </a:ext>
            </a:extLst>
          </p:cNvPr>
          <p:cNvSpPr txBox="1"/>
          <p:nvPr/>
        </p:nvSpPr>
        <p:spPr>
          <a:xfrm>
            <a:off x="5989606" y="6054428"/>
            <a:ext cx="19596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b="1" dirty="0"/>
              <a:t>Traffic Flow Beginning point</a:t>
            </a:r>
            <a:endParaRPr lang="en-CA" sz="9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FF98C4E-D4E8-8C1A-1C33-F51EF54CB073}"/>
              </a:ext>
            </a:extLst>
          </p:cNvPr>
          <p:cNvSpPr/>
          <p:nvPr/>
        </p:nvSpPr>
        <p:spPr>
          <a:xfrm>
            <a:off x="3764714" y="6004934"/>
            <a:ext cx="4184584" cy="36443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911C33-831F-D69B-8D37-7E8E55BE107D}"/>
              </a:ext>
            </a:extLst>
          </p:cNvPr>
          <p:cNvSpPr txBox="1"/>
          <p:nvPr/>
        </p:nvSpPr>
        <p:spPr>
          <a:xfrm>
            <a:off x="263105" y="1149936"/>
            <a:ext cx="95192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i="1" dirty="0"/>
              <a:t>Your Intersection of Interest is this (Orange Circle)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i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i="1" dirty="0"/>
              <a:t>Traffic flow demands need to be begun from the blue circles in each approach</a:t>
            </a:r>
          </a:p>
        </p:txBody>
      </p:sp>
    </p:spTree>
    <p:extLst>
      <p:ext uri="{BB962C8B-B14F-4D97-AF65-F5344CB8AC3E}">
        <p14:creationId xmlns:p14="http://schemas.microsoft.com/office/powerpoint/2010/main" val="2393389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18B5B-E5B9-4999-87E6-E3806368F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8FDADDB8-A674-F5EF-BB3E-65FF1F7D388C}"/>
              </a:ext>
            </a:extLst>
          </p:cNvPr>
          <p:cNvSpPr txBox="1"/>
          <p:nvPr/>
        </p:nvSpPr>
        <p:spPr>
          <a:xfrm>
            <a:off x="5084391" y="242639"/>
            <a:ext cx="1788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Traffic Flow</a:t>
            </a:r>
            <a:endParaRPr lang="en-CA" sz="24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43654F-A943-E16A-CE88-DE213EA1B548}"/>
              </a:ext>
            </a:extLst>
          </p:cNvPr>
          <p:cNvSpPr txBox="1"/>
          <p:nvPr/>
        </p:nvSpPr>
        <p:spPr>
          <a:xfrm>
            <a:off x="620753" y="1628620"/>
            <a:ext cx="982647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i="1" dirty="0"/>
              <a:t>The traffic flow for each movement is equal distribution of 150 </a:t>
            </a:r>
            <a:r>
              <a:rPr lang="en-US" b="1" i="1" dirty="0" err="1"/>
              <a:t>veh</a:t>
            </a:r>
            <a:r>
              <a:rPr lang="en-US" b="1" i="1" dirty="0"/>
              <a:t>/h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i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i="1" dirty="0"/>
              <a:t>Assume below, the traffic volume would be (do this step carefully using your intersection)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i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i="1" dirty="0"/>
              <a:t>Below is just an example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76871C-808B-E0C4-A90C-B0DCD8FA4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281" y="4156863"/>
            <a:ext cx="4162089" cy="27011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AC2D1C-EEB5-709F-DD83-05FFF303B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648" y="4156863"/>
            <a:ext cx="3520401" cy="2701137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449DCC8E-D322-743B-9B97-998AC4618A47}"/>
              </a:ext>
            </a:extLst>
          </p:cNvPr>
          <p:cNvSpPr/>
          <p:nvPr/>
        </p:nvSpPr>
        <p:spPr>
          <a:xfrm>
            <a:off x="5633049" y="5149970"/>
            <a:ext cx="828136" cy="500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4343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8CB75-C0F6-9466-B097-125939162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D87B1290-3961-A2E0-E5F3-454CC38F011C}"/>
              </a:ext>
            </a:extLst>
          </p:cNvPr>
          <p:cNvSpPr txBox="1"/>
          <p:nvPr/>
        </p:nvSpPr>
        <p:spPr>
          <a:xfrm>
            <a:off x="5146273" y="242639"/>
            <a:ext cx="1982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Traffic Signal</a:t>
            </a:r>
            <a:endParaRPr lang="en-CA" sz="24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EE2EC3-11C2-6088-1418-67EF0CC789C5}"/>
              </a:ext>
            </a:extLst>
          </p:cNvPr>
          <p:cNvSpPr txBox="1"/>
          <p:nvPr/>
        </p:nvSpPr>
        <p:spPr>
          <a:xfrm>
            <a:off x="620753" y="1343946"/>
            <a:ext cx="110852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i="1" dirty="0"/>
              <a:t>Traffic Signal: Consider the same traffic signal phases and duration as Lab 2 for your intersection of interest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i="1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1075408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6359C-51E5-A797-7AE7-A6ADDBF26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9ECFD7FF-7EB4-D888-8B1E-4934095EC70C}"/>
              </a:ext>
            </a:extLst>
          </p:cNvPr>
          <p:cNvSpPr txBox="1"/>
          <p:nvPr/>
        </p:nvSpPr>
        <p:spPr>
          <a:xfrm>
            <a:off x="3940266" y="242639"/>
            <a:ext cx="4058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Sample Figures for Report A</a:t>
            </a:r>
            <a:endParaRPr lang="en-CA" sz="24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C61293-0058-1645-080E-C9B02277E064}"/>
              </a:ext>
            </a:extLst>
          </p:cNvPr>
          <p:cNvSpPr txBox="1"/>
          <p:nvPr/>
        </p:nvSpPr>
        <p:spPr>
          <a:xfrm>
            <a:off x="620753" y="1257686"/>
            <a:ext cx="1134727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i="1" dirty="0"/>
              <a:t>Please use this PowerPoint as a template for preparing your figures for the report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i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i="1" dirty="0"/>
              <a:t>These figures need to be imported in the word file (report A)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i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i="1" dirty="0"/>
              <a:t>Please develop your own figures based on the analysis and replace those with these (these are samples)</a:t>
            </a:r>
          </a:p>
        </p:txBody>
      </p:sp>
    </p:spTree>
    <p:extLst>
      <p:ext uri="{BB962C8B-B14F-4D97-AF65-F5344CB8AC3E}">
        <p14:creationId xmlns:p14="http://schemas.microsoft.com/office/powerpoint/2010/main" val="2829860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1E21E-8D88-638D-D143-7344786C6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DD154C-8726-6B0E-F7F6-426617914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524" y="755460"/>
            <a:ext cx="6329469" cy="556017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67EF77B-EF78-EF26-E0E6-09B5D0CA6CA1}"/>
              </a:ext>
            </a:extLst>
          </p:cNvPr>
          <p:cNvSpPr txBox="1"/>
          <p:nvPr/>
        </p:nvSpPr>
        <p:spPr>
          <a:xfrm>
            <a:off x="4462382" y="6315636"/>
            <a:ext cx="3124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Figure1. Study Area GIS Map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2747119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964F4-6B78-76BB-7022-B77624924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C3BC3A7B-785D-B61A-3B0C-0C1B4C7D0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4351" y="1396926"/>
            <a:ext cx="3229268" cy="26526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859E97A-A66F-3B42-DEA8-DA77B8351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521" y="1383461"/>
            <a:ext cx="3229268" cy="26661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19E898-2ABD-48A4-9F39-BF9B42927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690" y="1396926"/>
            <a:ext cx="3229268" cy="266611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5FB1395-B4E3-6CDD-D3F7-FE38E5E85646}"/>
              </a:ext>
            </a:extLst>
          </p:cNvPr>
          <p:cNvSpPr txBox="1"/>
          <p:nvPr/>
        </p:nvSpPr>
        <p:spPr>
          <a:xfrm>
            <a:off x="4462382" y="6315636"/>
            <a:ext cx="2493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Figure2. Methodology </a:t>
            </a:r>
            <a:endParaRPr lang="en-CA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49425-BB45-F566-B58D-2C6E763511AB}"/>
              </a:ext>
            </a:extLst>
          </p:cNvPr>
          <p:cNvSpPr txBox="1"/>
          <p:nvPr/>
        </p:nvSpPr>
        <p:spPr>
          <a:xfrm>
            <a:off x="4890822" y="190285"/>
            <a:ext cx="1555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Methodology</a:t>
            </a:r>
            <a:endParaRPr lang="en-CA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C035F2-F174-A378-7882-E5BAB42CD559}"/>
              </a:ext>
            </a:extLst>
          </p:cNvPr>
          <p:cNvSpPr txBox="1"/>
          <p:nvPr/>
        </p:nvSpPr>
        <p:spPr>
          <a:xfrm>
            <a:off x="1175349" y="4141481"/>
            <a:ext cx="31146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a) SUMO Network -100% HDV</a:t>
            </a:r>
            <a:endParaRPr lang="en-CA" sz="1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E96D8C-F280-4CBA-50CC-79922EA4E40F}"/>
              </a:ext>
            </a:extLst>
          </p:cNvPr>
          <p:cNvSpPr txBox="1"/>
          <p:nvPr/>
        </p:nvSpPr>
        <p:spPr>
          <a:xfrm>
            <a:off x="4597520" y="4141481"/>
            <a:ext cx="31146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b) SUMO Network -100% CAV</a:t>
            </a:r>
            <a:endParaRPr lang="en-CA" sz="1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BC70C0-A1DD-B33E-C89E-03855FA81AEB}"/>
              </a:ext>
            </a:extLst>
          </p:cNvPr>
          <p:cNvSpPr txBox="1"/>
          <p:nvPr/>
        </p:nvSpPr>
        <p:spPr>
          <a:xfrm>
            <a:off x="8249009" y="4141481"/>
            <a:ext cx="31146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c) Intervention (Traffic Signal) </a:t>
            </a:r>
            <a:endParaRPr lang="en-CA" sz="1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8EF724-6E05-AE8D-E0EA-B9E15DEEE02C}"/>
              </a:ext>
            </a:extLst>
          </p:cNvPr>
          <p:cNvSpPr txBox="1"/>
          <p:nvPr/>
        </p:nvSpPr>
        <p:spPr>
          <a:xfrm>
            <a:off x="7712130" y="4745976"/>
            <a:ext cx="42690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solidFill>
                  <a:srgbClr val="FF0000"/>
                </a:solidFill>
              </a:rPr>
              <a:t>Intervention Selection (See Lab 02 PowerPoint)</a:t>
            </a:r>
          </a:p>
          <a:p>
            <a:r>
              <a:rPr lang="en-US" sz="1200" b="1" i="1" dirty="0">
                <a:solidFill>
                  <a:srgbClr val="FF0000"/>
                </a:solidFill>
              </a:rPr>
              <a:t>Choose ONE of the three intervention options. The intervention must directly affect the same street selected for your speed–density analysis.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i="1" dirty="0">
                <a:solidFill>
                  <a:srgbClr val="FF0000"/>
                </a:solidFill>
              </a:rPr>
              <a:t>Lane Modification: Add or remove a lane on the selected street.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i="1" dirty="0">
                <a:solidFill>
                  <a:srgbClr val="FF0000"/>
                </a:solidFill>
              </a:rPr>
              <a:t>Traffic Signal Timing: Modify the signal phases controlling traffic on the selected street.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i="1" dirty="0">
                <a:solidFill>
                  <a:srgbClr val="FF0000"/>
                </a:solidFill>
              </a:rPr>
              <a:t>Traffic Flow Adjustment: Modify the traffic demand affecting the selected street.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CDA748-AF9C-7F00-CA8C-A4581D4EC0B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760591">
            <a:off x="2068606" y="1767225"/>
            <a:ext cx="280270" cy="1009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2DA4F2-6F95-E893-EAE9-97514401015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760591">
            <a:off x="2222387" y="2061335"/>
            <a:ext cx="280270" cy="1009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035E3C1-CDAF-37A7-6DF1-3C3DF56F77D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760591">
            <a:off x="2222386" y="1728005"/>
            <a:ext cx="280270" cy="1009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9C58D9A-1768-FB01-36E1-7676BD03CD9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59301">
            <a:off x="1995948" y="2963416"/>
            <a:ext cx="280270" cy="10097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EBCDC0D-1840-1125-19AA-07ABAAA962A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62193">
            <a:off x="5926584" y="2838900"/>
            <a:ext cx="278403" cy="11694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B1F764B-272B-6171-52AF-3BC55DC9D83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62193">
            <a:off x="5391179" y="3015639"/>
            <a:ext cx="267393" cy="11232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BE12B90-9E9F-BCD1-68A1-5F90987A632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62193">
            <a:off x="6901047" y="2508609"/>
            <a:ext cx="296252" cy="12444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AAAD7FC-FAA3-0AE9-104D-BC5464A07BD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703248">
            <a:off x="5611399" y="1776604"/>
            <a:ext cx="296252" cy="12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75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C4603-166A-1E03-4B96-3E1C20438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748E73A3-9BB7-620E-0888-18A505398053}"/>
              </a:ext>
            </a:extLst>
          </p:cNvPr>
          <p:cNvSpPr txBox="1"/>
          <p:nvPr/>
        </p:nvSpPr>
        <p:spPr>
          <a:xfrm>
            <a:off x="3099412" y="6315636"/>
            <a:ext cx="5362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Figure3. Road Network Development Challenges  </a:t>
            </a:r>
            <a:endParaRPr lang="en-CA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5AFF99-2F58-1453-22AF-BAD155B79C71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1293601" y="2397585"/>
            <a:ext cx="3229269" cy="26661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38EED2-B302-70A4-476D-AA87678E8285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7582254" y="2414840"/>
            <a:ext cx="3229269" cy="26661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13BBC86-96F3-D1DC-0935-A6FCDB9CD427}"/>
              </a:ext>
            </a:extLst>
          </p:cNvPr>
          <p:cNvSpPr txBox="1"/>
          <p:nvPr/>
        </p:nvSpPr>
        <p:spPr>
          <a:xfrm>
            <a:off x="1408260" y="5142140"/>
            <a:ext cx="31146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a) Challenge 1</a:t>
            </a:r>
            <a:endParaRPr lang="en-CA" sz="1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802BB0-96D4-5ACF-988C-7649931D0F8A}"/>
              </a:ext>
            </a:extLst>
          </p:cNvPr>
          <p:cNvSpPr txBox="1"/>
          <p:nvPr/>
        </p:nvSpPr>
        <p:spPr>
          <a:xfrm>
            <a:off x="7582254" y="5159395"/>
            <a:ext cx="31146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b) Challenge 2</a:t>
            </a:r>
            <a:endParaRPr lang="en-CA" sz="1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C01E0-D611-C442-9F7D-AAD5DF665AA5}"/>
              </a:ext>
            </a:extLst>
          </p:cNvPr>
          <p:cNvSpPr txBox="1"/>
          <p:nvPr/>
        </p:nvSpPr>
        <p:spPr>
          <a:xfrm>
            <a:off x="4375749" y="190285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/>
              <a:t>Add Your Figures</a:t>
            </a:r>
            <a:endParaRPr lang="en-CA" sz="2800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CF1ACD-222C-41ED-F389-0B318D9F2D06}"/>
              </a:ext>
            </a:extLst>
          </p:cNvPr>
          <p:cNvSpPr/>
          <p:nvPr/>
        </p:nvSpPr>
        <p:spPr>
          <a:xfrm>
            <a:off x="1408260" y="2414840"/>
            <a:ext cx="3201487" cy="26661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400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45F56-EDE5-7406-3B76-A0466E1BCB62}"/>
              </a:ext>
            </a:extLst>
          </p:cNvPr>
          <p:cNvSpPr/>
          <p:nvPr/>
        </p:nvSpPr>
        <p:spPr>
          <a:xfrm>
            <a:off x="7610036" y="2397585"/>
            <a:ext cx="3201487" cy="26661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400" b="1" dirty="0">
                <a:solidFill>
                  <a:schemeClr val="tx1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3076101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7A4D4-7E7F-CF08-A4E2-7F9C78C57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69">
            <a:extLst>
              <a:ext uri="{FF2B5EF4-FFF2-40B4-BE49-F238E27FC236}">
                <a16:creationId xmlns:a16="http://schemas.microsoft.com/office/drawing/2014/main" id="{6C69B742-FD95-159C-48BA-A1409FAE3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929" y="1239366"/>
            <a:ext cx="4250805" cy="35823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D18160-0509-3882-3DFC-EC858459394D}"/>
              </a:ext>
            </a:extLst>
          </p:cNvPr>
          <p:cNvSpPr txBox="1"/>
          <p:nvPr/>
        </p:nvSpPr>
        <p:spPr>
          <a:xfrm>
            <a:off x="3439474" y="613688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Figure 4. 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Developed SUMO Network for Intersection </a:t>
            </a:r>
            <a:r>
              <a:rPr lang="en-US" sz="1800" dirty="0">
                <a:solidFill>
                  <a:srgbClr val="FF0000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X-Y </a:t>
            </a:r>
            <a:r>
              <a:rPr lang="en-US" sz="1800" b="1" dirty="0">
                <a:solidFill>
                  <a:srgbClr val="FF0000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n-CA" sz="105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1570D-870B-3D25-79D1-4DB453380D37}"/>
              </a:ext>
            </a:extLst>
          </p:cNvPr>
          <p:cNvSpPr txBox="1"/>
          <p:nvPr/>
        </p:nvSpPr>
        <p:spPr>
          <a:xfrm>
            <a:off x="6419928" y="4949058"/>
            <a:ext cx="1990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chemeClr val="accent1"/>
                </a:solidFill>
              </a:rPr>
              <a:t>Road: </a:t>
            </a:r>
            <a:r>
              <a:rPr lang="en-CA" dirty="0">
                <a:solidFill>
                  <a:schemeClr val="accent1"/>
                </a:solidFill>
              </a:rPr>
              <a:t>E 78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CE5A03-B6D8-56DC-3DC3-AB3EC4723CEB}"/>
              </a:ext>
            </a:extLst>
          </p:cNvPr>
          <p:cNvCxnSpPr>
            <a:cxnSpLocks/>
          </p:cNvCxnSpPr>
          <p:nvPr/>
        </p:nvCxnSpPr>
        <p:spPr>
          <a:xfrm flipV="1">
            <a:off x="6072559" y="3160096"/>
            <a:ext cx="1091369" cy="349901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E51CE96-0EE9-E167-5713-D1AD5D385ABB}"/>
              </a:ext>
            </a:extLst>
          </p:cNvPr>
          <p:cNvCxnSpPr>
            <a:cxnSpLocks/>
          </p:cNvCxnSpPr>
          <p:nvPr/>
        </p:nvCxnSpPr>
        <p:spPr>
          <a:xfrm>
            <a:off x="6048966" y="3470118"/>
            <a:ext cx="159329" cy="527899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D6075C5-4686-C4F2-2285-EC5A10CE5739}"/>
              </a:ext>
            </a:extLst>
          </p:cNvPr>
          <p:cNvCxnSpPr>
            <a:cxnSpLocks/>
          </p:cNvCxnSpPr>
          <p:nvPr/>
        </p:nvCxnSpPr>
        <p:spPr>
          <a:xfrm>
            <a:off x="7173705" y="3128280"/>
            <a:ext cx="203727" cy="559823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D81865-06A6-3369-B1BE-4FB4B5DC7588}"/>
              </a:ext>
            </a:extLst>
          </p:cNvPr>
          <p:cNvCxnSpPr>
            <a:cxnSpLocks/>
          </p:cNvCxnSpPr>
          <p:nvPr/>
        </p:nvCxnSpPr>
        <p:spPr>
          <a:xfrm flipH="1">
            <a:off x="6191235" y="3601875"/>
            <a:ext cx="1186197" cy="396142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99657BF0-5890-F3B1-B58B-BECDC6F4BBCD}"/>
              </a:ext>
            </a:extLst>
          </p:cNvPr>
          <p:cNvSpPr/>
          <p:nvPr/>
        </p:nvSpPr>
        <p:spPr>
          <a:xfrm>
            <a:off x="5665929" y="4976477"/>
            <a:ext cx="4250806" cy="36443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3421922-8A6A-792B-0C34-0B053CF0B219}"/>
              </a:ext>
            </a:extLst>
          </p:cNvPr>
          <p:cNvSpPr/>
          <p:nvPr/>
        </p:nvSpPr>
        <p:spPr>
          <a:xfrm rot="5400000">
            <a:off x="6056187" y="4986115"/>
            <a:ext cx="145144" cy="293299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9FED20-3482-3198-1019-FF98CCDCD108}"/>
              </a:ext>
            </a:extLst>
          </p:cNvPr>
          <p:cNvSpPr txBox="1"/>
          <p:nvPr/>
        </p:nvSpPr>
        <p:spPr>
          <a:xfrm>
            <a:off x="10000171" y="5675679"/>
            <a:ext cx="14384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Add Name</a:t>
            </a:r>
            <a:endParaRPr lang="en-CA" dirty="0">
              <a:solidFill>
                <a:srgbClr val="FF0000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0225D89-99AE-9DF9-A0F0-81285C3046E8}"/>
              </a:ext>
            </a:extLst>
          </p:cNvPr>
          <p:cNvCxnSpPr/>
          <p:nvPr/>
        </p:nvCxnSpPr>
        <p:spPr>
          <a:xfrm flipH="1">
            <a:off x="9049109" y="6045011"/>
            <a:ext cx="1164566" cy="276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AE80D86-CF44-CDF7-F4C7-F45211F28D27}"/>
              </a:ext>
            </a:extLst>
          </p:cNvPr>
          <p:cNvSpPr txBox="1"/>
          <p:nvPr/>
        </p:nvSpPr>
        <p:spPr>
          <a:xfrm>
            <a:off x="1707507" y="165070"/>
            <a:ext cx="75764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i="1" dirty="0">
                <a:solidFill>
                  <a:srgbClr val="FF0000"/>
                </a:solidFill>
              </a:rPr>
              <a:t>These are sample Images – You may develop your own images – </a:t>
            </a:r>
          </a:p>
          <a:p>
            <a:pPr algn="ctr"/>
            <a:r>
              <a:rPr lang="en-US" sz="2000" b="1" i="1" dirty="0">
                <a:solidFill>
                  <a:srgbClr val="FF0000"/>
                </a:solidFill>
              </a:rPr>
              <a:t>you may choose another street</a:t>
            </a:r>
            <a:endParaRPr lang="en-CA" sz="2000" i="1" dirty="0">
              <a:solidFill>
                <a:srgbClr val="FF0000"/>
              </a:solidFill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1CF4A6D-899F-7784-ACAE-EEC36744B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04" y="1273542"/>
            <a:ext cx="4206192" cy="35412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CF914044-1C12-AEDF-4768-EBE2D197F9E7}"/>
              </a:ext>
            </a:extLst>
          </p:cNvPr>
          <p:cNvSpPr/>
          <p:nvPr/>
        </p:nvSpPr>
        <p:spPr>
          <a:xfrm>
            <a:off x="1400453" y="3433007"/>
            <a:ext cx="371260" cy="295633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C32B059-8F24-49A3-E8C7-273371824465}"/>
              </a:ext>
            </a:extLst>
          </p:cNvPr>
          <p:cNvSpPr/>
          <p:nvPr/>
        </p:nvSpPr>
        <p:spPr>
          <a:xfrm>
            <a:off x="4676342" y="2465376"/>
            <a:ext cx="192952" cy="185979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7601029-884E-8E26-9B54-5F50C5643728}"/>
              </a:ext>
            </a:extLst>
          </p:cNvPr>
          <p:cNvSpPr/>
          <p:nvPr/>
        </p:nvSpPr>
        <p:spPr>
          <a:xfrm>
            <a:off x="2486866" y="1680880"/>
            <a:ext cx="197126" cy="18926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991AF5B-363C-5797-09D3-34954ED331B9}"/>
              </a:ext>
            </a:extLst>
          </p:cNvPr>
          <p:cNvSpPr/>
          <p:nvPr/>
        </p:nvSpPr>
        <p:spPr>
          <a:xfrm>
            <a:off x="2750244" y="4209741"/>
            <a:ext cx="371260" cy="295633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D962833-D4A5-BE7B-6B01-7FCAC1C6A47E}"/>
              </a:ext>
            </a:extLst>
          </p:cNvPr>
          <p:cNvSpPr/>
          <p:nvPr/>
        </p:nvSpPr>
        <p:spPr>
          <a:xfrm>
            <a:off x="2694809" y="3012280"/>
            <a:ext cx="371261" cy="295633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E4784E0-D30A-1C21-F3CA-804B4BF8A714}"/>
              </a:ext>
            </a:extLst>
          </p:cNvPr>
          <p:cNvSpPr/>
          <p:nvPr/>
        </p:nvSpPr>
        <p:spPr>
          <a:xfrm>
            <a:off x="1228539" y="5003452"/>
            <a:ext cx="200981" cy="231962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3A3A5D9-FE0C-5E3F-BFDD-A8DEA0F73003}"/>
              </a:ext>
            </a:extLst>
          </p:cNvPr>
          <p:cNvSpPr txBox="1"/>
          <p:nvPr/>
        </p:nvSpPr>
        <p:spPr>
          <a:xfrm>
            <a:off x="1426791" y="5018504"/>
            <a:ext cx="16483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b="1" dirty="0"/>
              <a:t>Intersection of Interest </a:t>
            </a:r>
            <a:endParaRPr lang="en-CA" sz="90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8CA3D27-EAF0-573E-FDCC-10CA5DD9F16C}"/>
              </a:ext>
            </a:extLst>
          </p:cNvPr>
          <p:cNvSpPr/>
          <p:nvPr/>
        </p:nvSpPr>
        <p:spPr>
          <a:xfrm>
            <a:off x="3042077" y="5040220"/>
            <a:ext cx="167353" cy="162950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103B76-8EEC-1EB5-2AEA-5488179C5F06}"/>
              </a:ext>
            </a:extLst>
          </p:cNvPr>
          <p:cNvSpPr txBox="1"/>
          <p:nvPr/>
        </p:nvSpPr>
        <p:spPr>
          <a:xfrm>
            <a:off x="3254104" y="5003452"/>
            <a:ext cx="19596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b="1" dirty="0"/>
              <a:t>Traffic Flow Beginning point</a:t>
            </a:r>
            <a:endParaRPr lang="en-CA" sz="9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D9D206C-37A2-DE6B-95C0-2A2D7874154A}"/>
              </a:ext>
            </a:extLst>
          </p:cNvPr>
          <p:cNvSpPr/>
          <p:nvPr/>
        </p:nvSpPr>
        <p:spPr>
          <a:xfrm>
            <a:off x="1029212" y="4953958"/>
            <a:ext cx="4184584" cy="36443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55545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63AF9-659C-57ED-6700-ED6F8634B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ABE1E57E-676F-29B1-2F8F-761BDD7F671E}"/>
              </a:ext>
            </a:extLst>
          </p:cNvPr>
          <p:cNvSpPr txBox="1"/>
          <p:nvPr/>
        </p:nvSpPr>
        <p:spPr>
          <a:xfrm>
            <a:off x="1294444" y="158195"/>
            <a:ext cx="103785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C00000"/>
                </a:solidFill>
              </a:rPr>
              <a:t>Important: To Generate Figures 5 and 6, please observe the last slide of Lab 2</a:t>
            </a:r>
          </a:p>
          <a:p>
            <a:r>
              <a:rPr lang="en-US" sz="2000" b="1" i="1" dirty="0">
                <a:solidFill>
                  <a:srgbClr val="C00000"/>
                </a:solidFill>
              </a:rPr>
              <a:t>This gives you easier workflow to generate DiagramsScenario.xml in different scenarioes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D9ECE3-9626-A31E-4251-7BB56E969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819" y="1333786"/>
            <a:ext cx="9548744" cy="543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599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63AF9-659C-57ED-6700-ED6F8634B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46E7BDE-78D7-1481-A5A6-A1DE7B212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46052"/>
            <a:ext cx="5575164" cy="40431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86F0C7-94F8-9B59-CC54-BCAE5ADE9EAE}"/>
              </a:ext>
            </a:extLst>
          </p:cNvPr>
          <p:cNvSpPr txBox="1"/>
          <p:nvPr/>
        </p:nvSpPr>
        <p:spPr>
          <a:xfrm>
            <a:off x="2501264" y="1315844"/>
            <a:ext cx="1609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Base Scenario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B6490B-268B-7FAC-3D57-6E0ACBF409A9}"/>
              </a:ext>
            </a:extLst>
          </p:cNvPr>
          <p:cNvSpPr txBox="1"/>
          <p:nvPr/>
        </p:nvSpPr>
        <p:spPr>
          <a:xfrm>
            <a:off x="8081001" y="1315844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Scenario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4A09E9-993A-B54E-E803-94B1D9C77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52" y="1846053"/>
            <a:ext cx="5598525" cy="40431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C29ACEC-D2BF-55EB-5B1D-E5F5CC7F8C32}"/>
              </a:ext>
            </a:extLst>
          </p:cNvPr>
          <p:cNvSpPr txBox="1"/>
          <p:nvPr/>
        </p:nvSpPr>
        <p:spPr>
          <a:xfrm>
            <a:off x="4839953" y="6205971"/>
            <a:ext cx="4043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Figure 5. Results</a:t>
            </a:r>
            <a:endParaRPr lang="en-CA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E1E57E-676F-29B1-2F8F-761BDD7F671E}"/>
              </a:ext>
            </a:extLst>
          </p:cNvPr>
          <p:cNvSpPr txBox="1"/>
          <p:nvPr/>
        </p:nvSpPr>
        <p:spPr>
          <a:xfrm>
            <a:off x="4424103" y="165070"/>
            <a:ext cx="31482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</a:rPr>
              <a:t>These are sample Images</a:t>
            </a:r>
            <a:endParaRPr lang="en-CA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46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73C56-3566-B76C-F755-D2BBBFFCF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E4999-9206-33E0-2E4B-A76C304B6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552" y="1846053"/>
            <a:ext cx="5598525" cy="404312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F1BC4F2-B366-8C4C-ED7A-D6DCB0B8DEF8}"/>
              </a:ext>
            </a:extLst>
          </p:cNvPr>
          <p:cNvSpPr/>
          <p:nvPr/>
        </p:nvSpPr>
        <p:spPr>
          <a:xfrm>
            <a:off x="6849362" y="2363638"/>
            <a:ext cx="4658264" cy="28812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400" dirty="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35CD54-FA65-4A4B-CA82-4FE3A49EC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5" y="1846053"/>
            <a:ext cx="5598525" cy="40431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D574F0-42E7-0C3B-C1C2-D22790F3E42F}"/>
              </a:ext>
            </a:extLst>
          </p:cNvPr>
          <p:cNvSpPr txBox="1"/>
          <p:nvPr/>
        </p:nvSpPr>
        <p:spPr>
          <a:xfrm>
            <a:off x="4839953" y="6205971"/>
            <a:ext cx="4043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Figure 6. Results</a:t>
            </a:r>
            <a:endParaRPr lang="en-CA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C25527-8EBD-14E9-63A7-8B681E97F44B}"/>
              </a:ext>
            </a:extLst>
          </p:cNvPr>
          <p:cNvSpPr txBox="1"/>
          <p:nvPr/>
        </p:nvSpPr>
        <p:spPr>
          <a:xfrm>
            <a:off x="630641" y="1315844"/>
            <a:ext cx="4740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Base Scenario (Same Figure as Previous Slide)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0C77C0-F076-2F64-5F54-251DA3EA113B}"/>
              </a:ext>
            </a:extLst>
          </p:cNvPr>
          <p:cNvSpPr txBox="1"/>
          <p:nvPr/>
        </p:nvSpPr>
        <p:spPr>
          <a:xfrm>
            <a:off x="8546825" y="1315844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Scenario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9279F7-5F61-E03F-2DFB-741B29821DE5}"/>
              </a:ext>
            </a:extLst>
          </p:cNvPr>
          <p:cNvSpPr txBox="1"/>
          <p:nvPr/>
        </p:nvSpPr>
        <p:spPr>
          <a:xfrm>
            <a:off x="4424103" y="165070"/>
            <a:ext cx="31482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</a:rPr>
              <a:t>These are sample Images</a:t>
            </a:r>
            <a:endParaRPr lang="en-CA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383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377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</dc:creator>
  <cp:lastModifiedBy>Ahmad</cp:lastModifiedBy>
  <cp:revision>11</cp:revision>
  <dcterms:created xsi:type="dcterms:W3CDTF">2026-10-08T21:46:43Z</dcterms:created>
  <dcterms:modified xsi:type="dcterms:W3CDTF">2026-10-10T01:32:16Z</dcterms:modified>
</cp:coreProperties>
</file>